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011680"/>
            <a:ext cx="110916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case studies, one construction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92608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72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the onset year inside the trend window did to the GMT and Arctic SIE slowdown problems — and how to write it up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206240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Lauren Hoffman — for discussion with Zach Labe — September 2026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construction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234440"/>
            <a:ext cx="11091672" cy="4937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slowdown is a decade whose least-squares trend is anomalously weak. The window starts at the onset year t, so the state at t is the first point of the fitted line.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 a series with no memory at all, the slope b over w points and the first value y₀ have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corr(b, y₀) = −√( 3(w−1) / (w(w+1)) )   →   −0.71 (w = 2, 3),  −0.63 (w = 5),  −0.50 (w = 10)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 a decadal window hands R² ≈ 0.25 to any predictor of the onset state before any physics; it is exactly zero once y₀ leaves the window (start at t+1).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Known as Oldham's problem / mathematical coupling (biostatistics, 1962), spurious self-correlation (Pearson 1897; geoscience), target leakage (Kaufman 2012; Kapoor &amp; Narayanan 2023). New in the trend-window form.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 passes every temporal-leakage check: no year of the target lies in the predictor's past. The leak is in the algebra of the label, not in time.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CESM2-LE: state at onset → decadal trend anomaly (test R²)</a:t>
            </a:r>
            <a:endParaRPr lang="en-US" sz="28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91672" cy="914400"/>
        </p:xfrm>
        <a:graphic>
          <a:graphicData uri="http://schemas.openxmlformats.org/drawingml/2006/table">
            <a:tbl>
              <a:tblPr/>
              <a:tblGrid>
                <a:gridCol w="3291840"/>
                <a:gridCol w="2194560"/>
                <a:gridCol w="1737360"/>
                <a:gridCol w="1737360"/>
                <a:gridCol w="2130552"/>
              </a:tblGrid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0072B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window starts at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0072B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 (onset-inclusive)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0072B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t+1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0072B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t+2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0072B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white noise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September SIE, from SIE anomaly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0.28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0.075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0.04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0.25 → 0 → 0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annual GMT, from GMT anomaly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0.26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0.03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0.00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0.25 → 0 → 0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548640" y="2834640"/>
            <a:ext cx="11091672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Roughly ¾ of the ice-state "predictability" and ~90% of the GMT-state predictability is the construction. What is left at t+1 is the physical memory of the state.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GMT has less decadal memory than the ice, so an onset-inclusive GMT label is, to a closer approximation, a picture of the current state.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Everything that follows uses the offset window t+1 … t+10 ("off1" labels, onsets 1990–2029, prevalence 0.17).</a:t>
            </a:r>
            <a:endParaRPr lang="en-US" sz="16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6355080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Figure in the manuscript: gmt_coupling_check (bars + white-noise line). Numbers from 09_gmt_coupling_check.py, 100 members.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SIE case: where the network looks vs what it uses</a:t>
            </a:r>
            <a:endParaRPr lang="en-US" sz="2800" dirty="0"/>
          </a:p>
        </p:txBody>
      </p:sp>
      <p:pic>
        <p:nvPicPr>
          <p:cNvPr id="3" name="Image 0" descr="img/fig_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188720"/>
            <a:ext cx="6583680" cy="2102787"/>
          </a:xfrm>
          <a:prstGeom prst="rect">
            <a:avLst/>
          </a:prstGeom>
        </p:spPr>
      </p:pic>
      <p:pic>
        <p:nvPicPr>
          <p:cNvPr id="4" name="Image 1" descr="img/fig_occlusio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3520107"/>
            <a:ext cx="6583680" cy="2717995"/>
          </a:xfrm>
          <a:prstGeom prst="rect">
            <a:avLst/>
          </a:prstGeom>
        </p:spPr>
      </p:pic>
      <p:sp>
        <p:nvSpPr>
          <p:cNvPr id="5" name="Text 1"/>
          <p:cNvSpPr txBox="1"/>
          <p:nvPr/>
        </p:nvSpPr>
        <p:spPr>
          <a:xfrm>
            <a:off x="7406640" y="1234440"/>
            <a:ext cx="4233672" cy="4937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LRP over correct slowdowns: Arctic marginal seas plus a tropical / North Pacific pattern — the regions the literature predicts.</a:t>
            </a:r>
            <a:endParaRPr lang="en-US" sz="14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Occlusion: zeroing the Arctic costs 0.08–0.10 AUROC; zeroing the North Pacific, tropical Pacific or North Atlantic changes it by ≤ 0.007; zeroing everything except the Arctic raises AUROC.</a:t>
            </a:r>
            <a:endParaRPr lang="en-US" sz="14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Arctic relevance is the onset ice state read through summer SST (r ≈ −0.6 to −0.8). The Pacific relevance carries no skill.</a:t>
            </a:r>
            <a:endParaRPr lang="en-US" sz="14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Four XAI methods agree on the maps (LRP-z, α2β1, DeepTaylor, input×gradient). They faithfully explain a network that learned the label construction.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SIE case: a one-variable regression beats every network</a:t>
            </a:r>
            <a:endParaRPr lang="en-US" sz="2800" dirty="0"/>
          </a:p>
        </p:txBody>
      </p:sp>
      <p:pic>
        <p:nvPicPr>
          <p:cNvPr id="3" name="Image 0" descr="img/fig_S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188720"/>
            <a:ext cx="6400800" cy="3743732"/>
          </a:xfrm>
          <a:prstGeom prst="rect">
            <a:avLst/>
          </a:prstGeom>
        </p:spPr>
      </p:pic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0" y="1280160"/>
          <a:ext cx="4206240" cy="914400"/>
        </p:xfrm>
        <a:graphic>
          <a:graphicData uri="http://schemas.openxmlformats.org/drawingml/2006/table">
            <a:tbl>
              <a:tblPr/>
              <a:tblGrid>
                <a:gridCol w="3017520"/>
                <a:gridCol w="1188720"/>
              </a:tblGrid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0072B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off1 labels, test AUROC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logistic: SIE anomaly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0.61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logistic: SIE + siv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0.65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logistic: IPO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0.66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logistic: SIE + IPO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0.68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CNN base (SST map)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0.62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CNN aux, warm-started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0.62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CNN extra-Arctic (&gt;50°N zeroed)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running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1"/>
          <p:cNvSpPr txBox="1"/>
          <p:nvPr/>
        </p:nvSpPr>
        <p:spPr>
          <a:xfrm>
            <a:off x="7315200" y="4206240"/>
            <a:ext cx="42062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Onset-inclusive labels: SIE logistic 0.77, SIE+IPO 0.80, best CNN 0.72.</a:t>
            </a:r>
            <a:endParaRPr lang="en-US" sz="13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Offset labels: the CNN equals the ice-state logistic; the aux CNN's probability tracks the SIE anomaly (r = −0.77).</a:t>
            </a:r>
            <a:endParaRPr lang="en-US" sz="13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extra-Arctic network is the paper's clean test of the Pacific reading.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GMT case, with the LB22 predictor (annual OHC100, 50 CMIP6 members)</a:t>
            </a:r>
            <a:endParaRPr lang="en-US" sz="28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91672" cy="914400"/>
        </p:xfrm>
        <a:graphic>
          <a:graphicData uri="http://schemas.openxmlformats.org/drawingml/2006/table">
            <a:tbl>
              <a:tblPr/>
              <a:tblGrid>
                <a:gridCol w="2926080"/>
                <a:gridCol w="1737360"/>
                <a:gridCol w="1554480"/>
                <a:gridCol w="1554480"/>
                <a:gridCol w="1737360"/>
                <a:gridCol w="1581912"/>
              </a:tblGrid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0072B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predictor → GMT slowdown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0072B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R² (window at t)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0072B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AUROC (t)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0072B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R² (t+1)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0072B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AUROC (t+1)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0072B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r(pred, GMT state)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GMT state at onset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0.24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0.78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0.02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0.59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OHC100 map, 20 PCs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0.27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0.78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0.09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0.69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−0.84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map + state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0.30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0.80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0.09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0.69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−0.84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548640" y="3017520"/>
            <a:ext cx="11091672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 the onset-inclusive label the OHC map is indistinguishable from the GMT state alone, and its prediction is a picture of the current GMT (r = −0.84).</a:t>
            </a:r>
            <a:endParaRPr lang="en-US" sz="15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With the window moved one year the state collapses but the map does not: about ¼ of the onset-inclusive skill is real decadal memory in the upper ocean; ¾ is the construction.</a:t>
            </a:r>
            <a:endParaRPr lang="en-US" sz="15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Ridge / logistic on PCs, member-block test splits. Single held-out block shown; five-block medians and an LB22-style MLP row are running (lb22_cv).</a:t>
            </a:r>
            <a:endParaRPr lang="en-US" sz="15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have not retrained the LB22 network on its data — this is the LB22 predictor and label construction inside CESM2-LE with the missing control added.</a:t>
            </a:r>
            <a:endParaRPr lang="en-US" sz="15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the decadal memory lives: OHC at onset beyond the target's own state</a:t>
            </a:r>
            <a:endParaRPr lang="en-US" sz="2800" dirty="0"/>
          </a:p>
        </p:txBody>
      </p:sp>
      <p:pic>
        <p:nvPicPr>
          <p:cNvPr id="3" name="Image 0" descr="img/ledger_gm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143000"/>
            <a:ext cx="6724427" cy="233172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548640" y="3474720"/>
            <a:ext cx="11091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72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GMT (annual OHC100): state alone R² 0.02; ocean adds up to +0.09 (IPO), +0.07 (global map), +0.05 (tropical Pacific). Residual pattern = negative IPO.</a:t>
            </a:r>
            <a:endParaRPr lang="en-US" sz="1200" dirty="0"/>
          </a:p>
        </p:txBody>
      </p:sp>
      <p:pic>
        <p:nvPicPr>
          <p:cNvPr id="5" name="Image 1" descr="img/ledger_si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3886200"/>
            <a:ext cx="6714671" cy="2331720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548640" y="6217920"/>
            <a:ext cx="11091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72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SIE (JJA OHC100): ice state alone R² 0.10; no OHC predictor adds &gt; +0.013; IPO +0.025. The memory is in the ice, and the SST map already pictures it.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Observations: calibrated baseline probabilities, observed slowdowns</a:t>
            </a:r>
            <a:endParaRPr lang="en-US" sz="2800" dirty="0"/>
          </a:p>
        </p:txBody>
      </p:sp>
      <p:pic>
        <p:nvPicPr>
          <p:cNvPr id="3" name="Image 0" descr="img/obs_erss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188720"/>
            <a:ext cx="5304567" cy="502920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6858000" y="1234440"/>
            <a:ext cx="4782312" cy="4937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Logistic fits from CESM2-LE (offset labels), applied to the observed SIE anomaly, IPO and Niño 3.4; calibrated to the base rate 0.17.</a:t>
            </a:r>
            <a:endParaRPr lang="en-US" sz="13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Blue: observed slowdowns by the v1 definition. Amber: decades that are slowdowns by the offset test with an observation-only linear reference and observed σ.</a:t>
            </a:r>
            <a:endParaRPr lang="en-US" sz="13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During the observed 2005–2010 onsets every baseline sat below the base rate (0.10–0.17): weak ice and a negative IPO argued, in CESM2's sign, against a slowdown. The one flagged period (1990–94, P 0.25–0.30) did slow.</a:t>
            </a:r>
            <a:endParaRPr lang="en-US" sz="13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With CESM2's σ (0.129 Mkm² yr⁻¹, ~2× observed) no observed onset reaches 1σ (max z = 0.74, onset 2006): the pause is a slowdown only by the observations' own variability.</a:t>
            </a:r>
            <a:endParaRPr lang="en-US" sz="13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2016–2025: all baselines at or below the base rate. CNN votes to be added from the off1 networks.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other decadal ML designs in the group are not exposed</a:t>
            </a:r>
            <a:endParaRPr lang="en-US" sz="28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280160"/>
          <a:ext cx="11091672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2103120"/>
                <a:gridCol w="2377440"/>
                <a:gridCol w="1280160"/>
                <a:gridCol w="914400"/>
                <a:gridCol w="2039112"/>
              </a:tblGrid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072B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study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072B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input (time)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072B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target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072B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window starts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072B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coupling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072B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state baseline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Labe &amp; Barnes 2022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OHC100 map, year t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10-yr GMT trend, t…t+9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yes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IPO logistic only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Gordon, Barnes &amp; Hurrell 2021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OHC maps, −38…−30 mo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PDO sign change, −30…0 mo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after input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none (chance)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Gordon &amp; Barnes 2022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OHC, 60-mo mean to t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60-mo SST mean, t+12…t+72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t+12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persistence (beaten)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Rader &amp; Barnes 2023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5-yr SST mean, t−4…t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5-yr N. Atl. SST, t+1…t+5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t+1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mean-evolution proxy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Fernandez &amp; Barnes 2025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tas, years i, i−1, i−2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tas in year i+L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i+1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none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548640" y="4023360"/>
            <a:ext cx="11091672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trend-window label is the exception, not the rule: every other design predicts a forward mean or a single future year — the offset convention our off1 labels adopt. Written as a forward mean, the coupling disappears.</a:t>
            </a:r>
            <a:endParaRPr lang="en-US" sz="14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recurs across the literature, clean designs included, is the missing baseline on the state the input pictures. That is checklist rule (ii), independent of the coupling.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Proposed framing: an AIES "Lessons Learned" paper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234440"/>
            <a:ext cx="11091672" cy="4937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Template: Mamalakis, Barnes &amp; Ebert-Uphoff (2023), "Carefully choose the baseline" — one lesson, stated as an imperative in the title, demonstrated on our own application, turned into rules.</a:t>
            </a:r>
            <a:endParaRPr lang="en-US" sz="14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Working title: "Keep the onset year out of the window: lessons learned from predicting decadal trend slowdowns with neural networks and explainable AI".</a:t>
            </a:r>
            <a:endParaRPr lang="en-US" sz="14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case studies, one construction, written in the first person plural: the control was missing from both; applied to both with each study's own predictor, the outcome differs for a physical reason (memory in the ocean vs in the ice).</a:t>
            </a:r>
            <a:endParaRPr lang="en-US" sz="14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LB22's physical reading — the Pacific decadal state — survives; the quantified skill and the pattern maps largely do not. The SIE result is almost entirely construction.</a:t>
            </a:r>
            <a:endParaRPr lang="en-US" sz="14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general lesson is portability: the same design was ¼ artefact in one system and nearly all artefact in another, and skill scores, XAI coherence and an observational hindcast were consistent with both.</a:t>
            </a:r>
            <a:endParaRPr lang="en-US" sz="14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Six main figures: mechanism · XAI vs occlusion · skill vs baselines (incl. extra-Arctic CNN) · OHC ledger GMT vs SIE · observations · (schematic). Rest to SI.</a:t>
            </a:r>
            <a:endParaRPr lang="en-US" sz="14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Rules: offset the window or use a state-free target · state baseline first · occlusion beside relevance · verify scalar inputs are used · learning curves · check teleconnection sign · ask what the new target's own state explains before transplanting a design.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Questions for discussion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234440"/>
            <a:ext cx="11091672" cy="4937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 Are you comfortable with the two-case-study, first-person-plural framing, and with the title?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 Anything in the LB22 setup we have misread — label construction, OHC depth, detrending, the IPO baseline — that would change the ¾ / ¼ split?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 Would you want to re-run a state baseline on the original LB22 data / networks, and should that be in this paper or a separate note?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 Is there a Climate Central internal-review requirement for the manuscript?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  The GMT ledger says the real memory is the IPO. Is that consistent with how you read the LB22 relevance maps at the time?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  Anyone else who should see this before submission (Barnes group)?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2026-09-15T18:51:52Z</dcterms:created>
  <dcterms:modified xsi:type="dcterms:W3CDTF">2026-09-15T18:51:52Z</dcterms:modified>
</cp:coreProperties>
</file>